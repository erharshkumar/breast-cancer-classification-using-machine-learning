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1826f091a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1826f091a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09600" y="24765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0" b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Intelligent Diagnostic </a:t>
            </a:r>
            <a:r>
              <a:rPr lang="en-US" sz="4340" b="1">
                <a:solidFill>
                  <a:srgbClr val="00A3C4"/>
                </a:solidFill>
                <a:latin typeface="Poppins"/>
                <a:ea typeface="Poppins"/>
                <a:cs typeface="Poppins"/>
                <a:sym typeface="Poppins"/>
              </a:rPr>
              <a:t>Classification</a:t>
            </a:r>
            <a:endParaRPr sz="4340" b="1">
              <a:solidFill>
                <a:srgbClr val="F5F5F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143500" y="3762375"/>
            <a:ext cx="1905000" cy="381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00050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Applying Responsible AI to Optimize Malignant Tumor Recall and Clinical Safety</a:t>
            </a:r>
            <a:endParaRPr sz="2000" b="0">
              <a:solidFill>
                <a:srgbClr val="B0BEC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495300" y="2586037"/>
            <a:ext cx="1120140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762000" y="3414712"/>
            <a:ext cx="10668000" cy="1905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3719512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Achieving 98.25% test accuracy through an end-to-end, medical-grade ML pipeline prioritizing life-critical recall.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07927"/>
            <a:ext cx="3365450" cy="292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707927"/>
            <a:ext cx="3365450" cy="292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707927"/>
            <a:ext cx="3365599" cy="292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62000" y="571500"/>
            <a:ext cx="10001250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Asymmetric error costs demand recall-focused optimization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81100" y="3736627"/>
            <a:ext cx="269361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Critical Stakes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181100" y="4153792"/>
            <a:ext cx="25653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In clinical settings, missing a malignant case (False Negative) has far higher human cost than a False Positive.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832300" y="3736627"/>
            <a:ext cx="269361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832300" y="4153792"/>
            <a:ext cx="25653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Construct a binary classifier that acts responsibly by maximizing recall for high-risk malignant cases.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83500" y="3736627"/>
            <a:ext cx="2693774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Safety First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483500" y="4153792"/>
            <a:ext cx="25654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Model selection criteria shifts from simple accuracy to a composite of sensitivity and ROC-AUC metrics.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312702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32300" y="312702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3500" y="312702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6"/>
          <p:cNvGrpSpPr/>
          <p:nvPr/>
        </p:nvGrpSpPr>
        <p:grpSpPr>
          <a:xfrm>
            <a:off x="762000" y="571500"/>
            <a:ext cx="10668000" cy="952500"/>
            <a:chOff x="0" y="0"/>
            <a:chExt cx="10668000" cy="952500"/>
          </a:xfrm>
        </p:grpSpPr>
        <p:sp>
          <p:nvSpPr>
            <p:cNvPr id="120" name="Google Shape;120;p16"/>
            <p:cNvSpPr txBox="1"/>
            <p:nvPr/>
          </p:nvSpPr>
          <p:spPr>
            <a:xfrm>
              <a:off x="0" y="0"/>
              <a:ext cx="1066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30" b="1">
                  <a:solidFill>
                    <a:srgbClr val="F5F5F5"/>
                  </a:solidFill>
                  <a:latin typeface="Poppins"/>
                  <a:ea typeface="Poppins"/>
                  <a:cs typeface="Poppins"/>
                  <a:sym typeface="Poppins"/>
                </a:rPr>
                <a:t>High-fidelity nuclear morphology benchmark</a:t>
              </a:r>
              <a:endParaRPr sz="3330" b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0" y="666750"/>
              <a:ext cx="952500" cy="38100"/>
            </a:xfrm>
            <a:prstGeom prst="rect">
              <a:avLst/>
            </a:prstGeom>
            <a:solidFill>
              <a:srgbClr val="00A3C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6477000" y="1905000"/>
            <a:ext cx="4953000" cy="3714900"/>
            <a:chOff x="0" y="0"/>
            <a:chExt cx="4953000" cy="37149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0"/>
              <a:ext cx="4953000" cy="3714900"/>
            </a:xfrm>
            <a:prstGeom prst="roundRect">
              <a:avLst>
                <a:gd name="adj" fmla="val 3076"/>
              </a:avLst>
            </a:prstGeom>
            <a:solidFill>
              <a:srgbClr val="161B22"/>
            </a:solidFill>
            <a:ln w="9525" cap="flat" cmpd="sng">
              <a:solidFill>
                <a:srgbClr val="3036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4" name="Google Shape;124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0"/>
              <a:ext cx="4953000" cy="3714900"/>
            </a:xfrm>
            <a:prstGeom prst="roundRect">
              <a:avLst>
                <a:gd name="adj" fmla="val 3076"/>
              </a:avLst>
            </a:prstGeom>
            <a:noFill/>
            <a:ln>
              <a:noFill/>
            </a:ln>
          </p:spPr>
        </p:pic>
      </p:grpSp>
      <p:grpSp>
        <p:nvGrpSpPr>
          <p:cNvPr id="125" name="Google Shape;125;p16"/>
          <p:cNvGrpSpPr/>
          <p:nvPr/>
        </p:nvGrpSpPr>
        <p:grpSpPr>
          <a:xfrm>
            <a:off x="762000" y="1905000"/>
            <a:ext cx="5143500" cy="1143000"/>
            <a:chOff x="0" y="0"/>
            <a:chExt cx="5143500" cy="1143000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5143500" cy="1143000"/>
            </a:xfrm>
            <a:prstGeom prst="roundRect">
              <a:avLst>
                <a:gd name="adj" fmla="val 6666"/>
              </a:avLst>
            </a:prstGeom>
            <a:solidFill>
              <a:srgbClr val="161B22"/>
            </a:solidFill>
            <a:ln w="9525" cap="flat" cmpd="sng">
              <a:solidFill>
                <a:srgbClr val="3036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00A3C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714375" y="142875"/>
              <a:ext cx="4238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5F5F5"/>
                  </a:solidFill>
                  <a:latin typeface="Poppins"/>
                  <a:ea typeface="Poppins"/>
                  <a:cs typeface="Poppins"/>
                  <a:sym typeface="Poppins"/>
                </a:rPr>
                <a:t>Origin</a:t>
              </a:r>
              <a:endParaRPr sz="1600" b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B0BEC5"/>
                  </a:solidFill>
                  <a:latin typeface="Lato"/>
                  <a:ea typeface="Lato"/>
                  <a:cs typeface="Lato"/>
                  <a:sym typeface="Lato"/>
                </a:rPr>
                <a:t>Wisconsin Breast Cancer (Diagnostic) dataset from digitized FNA imaging.</a:t>
              </a:r>
              <a:endParaRPr sz="1300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762000" y="3190875"/>
            <a:ext cx="5143500" cy="1143000"/>
            <a:chOff x="0" y="0"/>
            <a:chExt cx="5143500" cy="11430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5143500" cy="1143000"/>
            </a:xfrm>
            <a:prstGeom prst="roundRect">
              <a:avLst>
                <a:gd name="adj" fmla="val 6666"/>
              </a:avLst>
            </a:prstGeom>
            <a:solidFill>
              <a:srgbClr val="161B22"/>
            </a:solidFill>
            <a:ln w="9525" cap="flat" cmpd="sng">
              <a:solidFill>
                <a:srgbClr val="3036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00A3C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714375" y="142875"/>
              <a:ext cx="4238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5F5F5"/>
                  </a:solidFill>
                  <a:latin typeface="Poppins"/>
                  <a:ea typeface="Poppins"/>
                  <a:cs typeface="Poppins"/>
                  <a:sym typeface="Poppins"/>
                </a:rPr>
                <a:t>Complexity</a:t>
              </a:r>
              <a:endParaRPr sz="1600" b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B0BEC5"/>
                  </a:solidFill>
                  <a:latin typeface="Lato"/>
                  <a:ea typeface="Lato"/>
                  <a:cs typeface="Lato"/>
                  <a:sym typeface="Lato"/>
                </a:rPr>
                <a:t>30 numeric features capturing mean, SE, and "worst" nuclear dimensions.</a:t>
              </a:r>
              <a:endParaRPr sz="1300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3" name="Google Shape;133;p16"/>
          <p:cNvGrpSpPr/>
          <p:nvPr/>
        </p:nvGrpSpPr>
        <p:grpSpPr>
          <a:xfrm>
            <a:off x="762000" y="4476750"/>
            <a:ext cx="5143500" cy="1143000"/>
            <a:chOff x="0" y="0"/>
            <a:chExt cx="5143500" cy="1143000"/>
          </a:xfrm>
        </p:grpSpPr>
        <p:sp>
          <p:nvSpPr>
            <p:cNvPr id="134" name="Google Shape;134;p16"/>
            <p:cNvSpPr/>
            <p:nvPr/>
          </p:nvSpPr>
          <p:spPr>
            <a:xfrm>
              <a:off x="0" y="0"/>
              <a:ext cx="5143500" cy="1143000"/>
            </a:xfrm>
            <a:prstGeom prst="roundRect">
              <a:avLst>
                <a:gd name="adj" fmla="val 6666"/>
              </a:avLst>
            </a:prstGeom>
            <a:solidFill>
              <a:srgbClr val="161B22"/>
            </a:solidFill>
            <a:ln w="9525" cap="flat" cmpd="sng">
              <a:solidFill>
                <a:srgbClr val="3036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714375" y="142875"/>
              <a:ext cx="4238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5F5F5"/>
                  </a:solidFill>
                  <a:latin typeface="Poppins"/>
                  <a:ea typeface="Poppins"/>
                  <a:cs typeface="Poppins"/>
                  <a:sym typeface="Poppins"/>
                </a:rPr>
                <a:t>Cohort</a:t>
              </a:r>
              <a:endParaRPr sz="1600" b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B0BEC5"/>
                  </a:solidFill>
                  <a:latin typeface="Lato"/>
                  <a:ea typeface="Lato"/>
                  <a:cs typeface="Lato"/>
                  <a:sym typeface="Lato"/>
                </a:rPr>
                <a:t>569 patient records with 0 missing values for robust statistical modeling.</a:t>
              </a:r>
              <a:endParaRPr sz="1300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07927"/>
            <a:ext cx="3365450" cy="292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707927"/>
            <a:ext cx="3365450" cy="292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707927"/>
            <a:ext cx="3365599" cy="292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10001250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 standardized pipeline for clinical reproducibility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181100" y="3736627"/>
            <a:ext cx="269361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Phase 1: Analysis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181100" y="4153792"/>
            <a:ext cx="25653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Exploratory Data Analysis identified mean concave points and radius as high-correlation drivers.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832300" y="3736627"/>
            <a:ext cx="269361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Phase 2: Modeling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832300" y="4153792"/>
            <a:ext cx="25653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Stratified sampling and 5-fold cross-validation inside the pipeline prevent data leakage.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483500" y="3736627"/>
            <a:ext cx="2693774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Phase 3: Export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483500" y="4153792"/>
            <a:ext cx="25654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Serialization via Joblib captures both scaling logic and the optimized classifier for deployment.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312702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32300" y="312702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3500" y="312702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53530"/>
            <a:ext cx="10668000" cy="423296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62000" y="571500"/>
            <a:ext cx="10001250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SVM RBF provides the optimal clinical frontier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62000" y="5527327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Superior non-linear separability of SVM (RBF) minimizes error variance across all cross-validation folds.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762000" y="5384452"/>
            <a:ext cx="106680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50640"/>
            <a:ext cx="10668000" cy="473585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762000" y="571500"/>
            <a:ext cx="100012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Class balance supports stratified training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62000" y="5704433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Balanced distribution allows for effective stratified splitting, ensuring the test set reflects the real-world minority incidence.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762000" y="5561558"/>
            <a:ext cx="106680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53530"/>
            <a:ext cx="10668000" cy="4232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762000" y="571500"/>
            <a:ext cx="10001250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Superior accuracy and predictive confidence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62000" y="2731740"/>
            <a:ext cx="304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0A3C4"/>
                </a:solidFill>
                <a:latin typeface="Lato"/>
                <a:ea typeface="Lato"/>
                <a:cs typeface="Lato"/>
                <a:sym typeface="Lato"/>
              </a:rPr>
              <a:t>98.3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62000" y="4103340"/>
            <a:ext cx="3048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% ACCURACY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4572000" y="2731740"/>
            <a:ext cx="304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0A3C4"/>
                </a:solidFill>
                <a:latin typeface="Lato"/>
                <a:ea typeface="Lato"/>
                <a:cs typeface="Lato"/>
                <a:sym typeface="Lato"/>
              </a:rPr>
              <a:t>0.99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4572000" y="4103340"/>
            <a:ext cx="3048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ROC-AUC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8382000" y="2731740"/>
            <a:ext cx="304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0A3C4"/>
                </a:solidFill>
                <a:latin typeface="Lato"/>
                <a:ea typeface="Lato"/>
                <a:cs typeface="Lato"/>
                <a:sym typeface="Lato"/>
              </a:rPr>
              <a:t>95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382000" y="4103340"/>
            <a:ext cx="3048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% RECALL (M)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21"/>
          <p:cNvGrpSpPr/>
          <p:nvPr/>
        </p:nvGrpSpPr>
        <p:grpSpPr>
          <a:xfrm>
            <a:off x="762000" y="571500"/>
            <a:ext cx="10668000" cy="1095375"/>
            <a:chOff x="0" y="0"/>
            <a:chExt cx="10668000" cy="1095375"/>
          </a:xfrm>
        </p:grpSpPr>
        <p:sp>
          <p:nvSpPr>
            <p:cNvPr id="192" name="Google Shape;192;p21"/>
            <p:cNvSpPr txBox="1"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F5F5F5"/>
                  </a:solidFill>
                  <a:latin typeface="Poppins"/>
                  <a:ea typeface="Poppins"/>
                  <a:cs typeface="Poppins"/>
                  <a:sym typeface="Poppins"/>
                </a:rPr>
                <a:t>Safety-centric model tuning</a:t>
              </a:r>
              <a:endParaRPr sz="3600" b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21"/>
            <p:cNvSpPr txBox="1"/>
            <p:nvPr/>
          </p:nvSpPr>
          <p:spPr>
            <a:xfrm>
              <a:off x="0" y="714375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B0BEC5"/>
                  </a:solidFill>
                  <a:latin typeface="Lato"/>
                  <a:ea typeface="Lato"/>
                  <a:cs typeface="Lato"/>
                  <a:sym typeface="Lato"/>
                </a:rPr>
                <a:t>Prioritizing clinical sensitivity to minimize false negatives in malignant case detection.</a:t>
              </a:r>
              <a:endParaRPr sz="1600" b="0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4" name="Google Shape;194;p21"/>
          <p:cNvGrpSpPr/>
          <p:nvPr/>
        </p:nvGrpSpPr>
        <p:grpSpPr>
          <a:xfrm>
            <a:off x="762000" y="2095500"/>
            <a:ext cx="3295800" cy="3619500"/>
            <a:chOff x="0" y="0"/>
            <a:chExt cx="3295800" cy="3619500"/>
          </a:xfrm>
        </p:grpSpPr>
        <p:sp>
          <p:nvSpPr>
            <p:cNvPr id="195" name="Google Shape;195;p21"/>
            <p:cNvSpPr/>
            <p:nvPr/>
          </p:nvSpPr>
          <p:spPr>
            <a:xfrm>
              <a:off x="0" y="0"/>
              <a:ext cx="3295800" cy="3619500"/>
            </a:xfrm>
            <a:prstGeom prst="roundRect">
              <a:avLst>
                <a:gd name="adj" fmla="val 3468"/>
              </a:avLst>
            </a:prstGeom>
            <a:solidFill>
              <a:srgbClr val="161B22"/>
            </a:solidFill>
            <a:ln w="9525" cap="flat" cmpd="sng">
              <a:solidFill>
                <a:srgbClr val="3036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238125" y="344170"/>
              <a:ext cx="2819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0A3C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sz="4000">
                <a:solidFill>
                  <a:srgbClr val="00A3C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7" name="Google Shape;197;p21"/>
            <p:cNvSpPr txBox="1"/>
            <p:nvPr/>
          </p:nvSpPr>
          <p:spPr>
            <a:xfrm>
              <a:off x="238125" y="1047750"/>
              <a:ext cx="2819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60" b="1">
                  <a:solidFill>
                    <a:srgbClr val="00A3C4"/>
                  </a:solidFill>
                  <a:latin typeface="Poppins"/>
                  <a:ea typeface="Poppins"/>
                  <a:cs typeface="Poppins"/>
                  <a:sym typeface="Poppins"/>
                </a:rPr>
                <a:t>95%</a:t>
              </a:r>
              <a:endParaRPr sz="2960" b="1">
                <a:solidFill>
                  <a:srgbClr val="00A3C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8" name="Google Shape;198;p21"/>
            <p:cNvSpPr txBox="1"/>
            <p:nvPr/>
          </p:nvSpPr>
          <p:spPr>
            <a:xfrm>
              <a:off x="238125" y="1619250"/>
              <a:ext cx="2819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5F5F5"/>
                  </a:solidFill>
                  <a:latin typeface="Lato"/>
                  <a:ea typeface="Lato"/>
                  <a:cs typeface="Lato"/>
                  <a:sym typeface="Lato"/>
                </a:rPr>
                <a:t>Malignant Recall</a:t>
              </a:r>
              <a:endParaRPr sz="1400" b="1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0BEC5"/>
                  </a:solidFill>
                  <a:latin typeface="Lato"/>
                  <a:ea typeface="Lato"/>
                  <a:cs typeface="Lato"/>
                  <a:sym typeface="Lato"/>
                </a:rPr>
                <a:t>Optimized sensitivity ensures that true malignant cases are rarely missed.</a:t>
              </a:r>
              <a:endParaRPr sz="1200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9" name="Google Shape;199;p21"/>
          <p:cNvGrpSpPr/>
          <p:nvPr/>
        </p:nvGrpSpPr>
        <p:grpSpPr>
          <a:xfrm>
            <a:off x="4438650" y="2095500"/>
            <a:ext cx="3295800" cy="3619500"/>
            <a:chOff x="0" y="0"/>
            <a:chExt cx="3295800" cy="3619500"/>
          </a:xfrm>
        </p:grpSpPr>
        <p:sp>
          <p:nvSpPr>
            <p:cNvPr id="200" name="Google Shape;200;p21"/>
            <p:cNvSpPr/>
            <p:nvPr/>
          </p:nvSpPr>
          <p:spPr>
            <a:xfrm>
              <a:off x="0" y="0"/>
              <a:ext cx="3295800" cy="3619500"/>
            </a:xfrm>
            <a:prstGeom prst="roundRect">
              <a:avLst>
                <a:gd name="adj" fmla="val 3468"/>
              </a:avLst>
            </a:prstGeom>
            <a:solidFill>
              <a:srgbClr val="161B22"/>
            </a:solidFill>
            <a:ln w="9525" cap="flat" cmpd="sng">
              <a:solidFill>
                <a:srgbClr val="3036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1"/>
            <p:cNvSpPr txBox="1"/>
            <p:nvPr/>
          </p:nvSpPr>
          <p:spPr>
            <a:xfrm>
              <a:off x="238125" y="344170"/>
              <a:ext cx="2819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0A3C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endParaRPr sz="4000">
                <a:solidFill>
                  <a:srgbClr val="00A3C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2" name="Google Shape;202;p21"/>
            <p:cNvSpPr txBox="1"/>
            <p:nvPr/>
          </p:nvSpPr>
          <p:spPr>
            <a:xfrm>
              <a:off x="238125" y="1047750"/>
              <a:ext cx="2819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60" b="1">
                  <a:solidFill>
                    <a:srgbClr val="00A3C4"/>
                  </a:solidFill>
                  <a:latin typeface="Poppins"/>
                  <a:ea typeface="Poppins"/>
                  <a:cs typeface="Poppins"/>
                  <a:sym typeface="Poppins"/>
                </a:rPr>
                <a:t>97%</a:t>
              </a:r>
              <a:endParaRPr sz="2960" b="1">
                <a:solidFill>
                  <a:srgbClr val="00A3C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3" name="Google Shape;203;p21"/>
            <p:cNvSpPr txBox="1"/>
            <p:nvPr/>
          </p:nvSpPr>
          <p:spPr>
            <a:xfrm>
              <a:off x="238125" y="1619250"/>
              <a:ext cx="2819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5F5F5"/>
                  </a:solidFill>
                  <a:latin typeface="Lato"/>
                  <a:ea typeface="Lato"/>
                  <a:cs typeface="Lato"/>
                  <a:sym typeface="Lato"/>
                </a:rPr>
                <a:t>Benign Precision</a:t>
              </a:r>
              <a:endParaRPr sz="1400" b="1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0BEC5"/>
                  </a:solidFill>
                  <a:latin typeface="Lato"/>
                  <a:ea typeface="Lato"/>
                  <a:cs typeface="Lato"/>
                  <a:sym typeface="Lato"/>
                </a:rPr>
                <a:t>High accuracy in identifying benign cases reduces unnecessary biopsies and patient anxiety.</a:t>
              </a:r>
              <a:endParaRPr sz="1200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4" name="Google Shape;204;p21"/>
          <p:cNvGrpSpPr/>
          <p:nvPr/>
        </p:nvGrpSpPr>
        <p:grpSpPr>
          <a:xfrm>
            <a:off x="8124825" y="2095500"/>
            <a:ext cx="3295800" cy="3619500"/>
            <a:chOff x="0" y="0"/>
            <a:chExt cx="3295800" cy="3619500"/>
          </a:xfrm>
        </p:grpSpPr>
        <p:sp>
          <p:nvSpPr>
            <p:cNvPr id="205" name="Google Shape;205;p21"/>
            <p:cNvSpPr/>
            <p:nvPr/>
          </p:nvSpPr>
          <p:spPr>
            <a:xfrm>
              <a:off x="0" y="0"/>
              <a:ext cx="3295800" cy="3619500"/>
            </a:xfrm>
            <a:prstGeom prst="roundRect">
              <a:avLst>
                <a:gd name="adj" fmla="val 3468"/>
              </a:avLst>
            </a:prstGeom>
            <a:solidFill>
              <a:srgbClr val="161B22"/>
            </a:solidFill>
            <a:ln w="9525" cap="flat" cmpd="sng">
              <a:solidFill>
                <a:srgbClr val="3036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1"/>
            <p:cNvSpPr txBox="1"/>
            <p:nvPr/>
          </p:nvSpPr>
          <p:spPr>
            <a:xfrm>
              <a:off x="238125" y="344170"/>
              <a:ext cx="2819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0A3C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health_and_safety</a:t>
              </a:r>
              <a:endParaRPr sz="4000">
                <a:solidFill>
                  <a:srgbClr val="00A3C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238125" y="1047750"/>
              <a:ext cx="2819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0A3C4"/>
                  </a:solidFill>
                  <a:latin typeface="Poppins"/>
                  <a:ea typeface="Poppins"/>
                  <a:cs typeface="Poppins"/>
                  <a:sym typeface="Poppins"/>
                </a:rPr>
                <a:t>Clinical Impact</a:t>
              </a:r>
              <a:endParaRPr sz="2000" b="1">
                <a:solidFill>
                  <a:srgbClr val="00A3C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238125" y="1619250"/>
              <a:ext cx="2819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5F5F5"/>
                  </a:solidFill>
                  <a:latin typeface="Lato"/>
                  <a:ea typeface="Lato"/>
                  <a:cs typeface="Lato"/>
                  <a:sym typeface="Lato"/>
                </a:rPr>
                <a:t>Pipeline Safety</a:t>
              </a:r>
              <a:endParaRPr sz="1400" b="1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0BEC5"/>
                  </a:solidFill>
                  <a:latin typeface="Lato"/>
                  <a:ea typeface="Lato"/>
                  <a:cs typeface="Lato"/>
                  <a:sym typeface="Lato"/>
                </a:rPr>
                <a:t>Significantly reduced liability and improved reliability within automated clinical diagnostic pipelines.</a:t>
              </a:r>
              <a:endParaRPr sz="1200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09" name="Google Shape;209;p21"/>
          <p:cNvSpPr/>
          <p:nvPr/>
        </p:nvSpPr>
        <p:spPr>
          <a:xfrm>
            <a:off x="762000" y="6096000"/>
            <a:ext cx="10668000" cy="96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762000" y="6238875"/>
            <a:ext cx="10668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By optimizing for recall over raw accuracy, the model ensures clinical safety standards are met.</a:t>
            </a:r>
            <a:endParaRPr sz="1100" i="1">
              <a:solidFill>
                <a:srgbClr val="B0BEC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50640"/>
            <a:ext cx="10668000" cy="473585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62000" y="571500"/>
            <a:ext cx="100012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Morphological drivers of malignancy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762000" y="501387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Permutation importance highlights that cell nuclear concavity and sheer size are the primary physiological markers used by the model.</a:t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762000" y="4870995"/>
            <a:ext cx="106680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1775370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762000" y="571500"/>
            <a:ext cx="100012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Operationalizing the diagnostic engine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6381750" y="2692300"/>
            <a:ext cx="5300662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Ready for Clinical Integration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381750" y="2906166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The standardized pipeline wrapper handles scaling and inference in a single step, ensuring the model behaves identically in production as it did during training.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6762750" y="4011066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Persistent scaling parameters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6762750" y="4515891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Serialized SVM engine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762750" y="5020716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0BEC5"/>
                </a:solidFill>
                <a:latin typeface="Lato"/>
                <a:ea typeface="Lato"/>
                <a:cs typeface="Lato"/>
                <a:sym typeface="Lato"/>
              </a:rPr>
              <a:t>O(1) inference speed</a:t>
            </a:r>
            <a:endParaRPr/>
          </a:p>
        </p:txBody>
      </p:sp>
      <p:pic>
        <p:nvPicPr>
          <p:cNvPr id="232" name="Google Shape;23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4916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55399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05881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3000" y="1683975"/>
            <a:ext cx="4834225" cy="416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1333500" y="2000250"/>
            <a:ext cx="95250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sz="8000" b="1">
              <a:solidFill>
                <a:srgbClr val="F5F5F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5619750" y="4572000"/>
            <a:ext cx="952500" cy="381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Office PowerPoint</Application>
  <PresentationFormat>Widescreen</PresentationFormat>
  <Paragraphs>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Material Icons</vt:lpstr>
      <vt:lpstr>Poppins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hk821064</cp:lastModifiedBy>
  <cp:revision>1</cp:revision>
  <dcterms:modified xsi:type="dcterms:W3CDTF">2026-06-20T10:04:36Z</dcterms:modified>
</cp:coreProperties>
</file>